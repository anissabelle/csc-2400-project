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6" r:id="rId8"/>
    <p:sldId id="260" r:id="rId9"/>
    <p:sldId id="261" r:id="rId10"/>
    <p:sldId id="265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04645D-D1E6-414F-9702-4B800FF27127}" v="1155" dt="2026-04-26T22:52:47.214"/>
    <p1510:client id="{69DDBED1-0AA3-F34A-BECD-8A59E2DC6C7D}" v="60" dt="2026-04-26T21:55:08.600"/>
    <p1510:client id="{95A781BB-0CF1-5CCE-6355-8BA0FF06FACC}" v="976" dt="2026-04-26T21:36:53.905"/>
    <p1510:client id="{FBDFB45F-B1DE-9852-D191-A4A9175090E3}" v="14" dt="2026-04-26T22:54:23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06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1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2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47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6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4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77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1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7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1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67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ant-colony-optimization-intuition-code-visualization-9412c369be81/" TargetMode="External"/><Relationship Id="rId7" Type="http://schemas.openxmlformats.org/officeDocument/2006/relationships/hyperlink" Target="https://www.datacamp.com/tutorial/a-star-algorithm" TargetMode="External"/><Relationship Id="rId2" Type="http://schemas.openxmlformats.org/officeDocument/2006/relationships/hyperlink" Target="https://www.geeksforgeeks.org/machine-learning/introduction-to-ant-colony-optimiz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dsa/a-search-algorithm/" TargetMode="External"/><Relationship Id="rId5" Type="http://schemas.openxmlformats.org/officeDocument/2006/relationships/hyperlink" Target="https://www.geeksforgeeks.org/dsa/breadth-first-search-or-bfs-for-a-graph/" TargetMode="External"/><Relationship Id="rId4" Type="http://schemas.openxmlformats.org/officeDocument/2006/relationships/hyperlink" Target="https://www.geeksforgeeks.org/dsa/depth-first-search-or-dfs-for-a-graph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op view of a circular maze">
            <a:extLst>
              <a:ext uri="{FF2B5EF4-FFF2-40B4-BE49-F238E27FC236}">
                <a16:creationId xmlns:a16="http://schemas.microsoft.com/office/drawing/2014/main" id="{FC18FCAC-94B0-58E6-EC3B-E7D5C548A0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54" b="1357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FBAAD93-7DE6-47D1-3609-446AE138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FC0E9-5358-F3BC-A340-F38A03E94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5736" y="908651"/>
            <a:ext cx="4754880" cy="4171779"/>
          </a:xfrm>
        </p:spPr>
        <p:txBody>
          <a:bodyPr anchor="t">
            <a:normAutofit/>
          </a:bodyPr>
          <a:lstStyle/>
          <a:p>
            <a:r>
              <a:rPr lang="en-US" sz="6000"/>
              <a:t>Maze  Solving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7AFD9-FEDC-3E72-5314-B3EB8361C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5736" y="5216955"/>
            <a:ext cx="4754880" cy="1003638"/>
          </a:xfrm>
        </p:spPr>
        <p:txBody>
          <a:bodyPr anchor="b">
            <a:normAutofit/>
          </a:bodyPr>
          <a:lstStyle/>
          <a:p>
            <a:r>
              <a:rPr lang="en-US" sz="2200"/>
              <a:t>-Anissa Sollman, Mani Botla, Nick Liverett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236859-7780-1451-40B8-74A77E27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6232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601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7C2C-03C0-81CC-4C51-E51CB57D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2C512-9E38-4B27-E44D-06BBC2A2E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Finding a path from a starting position to a destination within a maze. </a:t>
            </a:r>
          </a:p>
          <a:p>
            <a:r>
              <a:rPr lang="en-US"/>
              <a:t>Represented using a 2D array or matrix.</a:t>
            </a:r>
          </a:p>
          <a:p>
            <a:r>
              <a:rPr lang="en-US"/>
              <a:t>Helps develop key search algorithms (DFS, BFS, A*)</a:t>
            </a:r>
          </a:p>
          <a:p>
            <a:r>
              <a:rPr lang="en-US"/>
              <a:t>Real‑world use: routing, navigation, logistics, GPS systems</a:t>
            </a:r>
          </a:p>
        </p:txBody>
      </p:sp>
      <p:pic>
        <p:nvPicPr>
          <p:cNvPr id="4" name="Picture 3" descr="3 Reasons Why Life is Confusing like a Maze - The Simple Catholic">
            <a:extLst>
              <a:ext uri="{FF2B5EF4-FFF2-40B4-BE49-F238E27FC236}">
                <a16:creationId xmlns:a16="http://schemas.microsoft.com/office/drawing/2014/main" id="{DBA0920A-45B2-C612-1674-87DAA3F66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16" y="2109961"/>
            <a:ext cx="2832577" cy="295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468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0261-3E15-5B5F-CF52-AC51B289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</a:t>
            </a:r>
            <a:r>
              <a:rPr lang="en-US">
                <a:solidFill>
                  <a:schemeClr val="bg1"/>
                </a:solidFill>
              </a:rPr>
              <a:t>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BBABF-B92C-462E-537E-B381BBC6C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19072"/>
            <a:ext cx="10691265" cy="42428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/>
              <a:t>Goal : Compare maze‑solving algorithms to find the most efficient shortest‑path method.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Four algorithms were used: </a:t>
            </a:r>
          </a:p>
          <a:p>
            <a:pPr marL="0" indent="0">
              <a:buNone/>
            </a:pPr>
            <a:r>
              <a:rPr lang="en-US"/>
              <a:t>    - Breadth First Search (BFS) </a:t>
            </a:r>
          </a:p>
          <a:p>
            <a:pPr marL="0" indent="0">
              <a:buNone/>
            </a:pPr>
            <a:r>
              <a:rPr lang="en-US"/>
              <a:t>    - Depth First Search (DFS)</a:t>
            </a:r>
          </a:p>
          <a:p>
            <a:pPr marL="0" indent="0">
              <a:buNone/>
            </a:pPr>
            <a:r>
              <a:rPr lang="en-US"/>
              <a:t>    - A* Search</a:t>
            </a:r>
          </a:p>
          <a:p>
            <a:pPr marL="0" indent="0">
              <a:buNone/>
            </a:pPr>
            <a:r>
              <a:rPr lang="en-US"/>
              <a:t>    -  Ant colony optimization(ACO)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Expectations: </a:t>
            </a:r>
          </a:p>
          <a:p>
            <a:pPr>
              <a:buFontTx/>
              <a:buChar char="-"/>
            </a:pPr>
            <a:r>
              <a:rPr lang="en-US"/>
              <a:t>Expected A* to be fastest and efficient.</a:t>
            </a:r>
          </a:p>
          <a:p>
            <a:pPr>
              <a:buFontTx/>
              <a:buChar char="-"/>
            </a:pPr>
            <a:r>
              <a:rPr lang="en-US"/>
              <a:t>Expected DFS to take longer and be less optimal.</a:t>
            </a:r>
          </a:p>
        </p:txBody>
      </p:sp>
    </p:spTree>
    <p:extLst>
      <p:ext uri="{BB962C8B-B14F-4D97-AF65-F5344CB8AC3E}">
        <p14:creationId xmlns:p14="http://schemas.microsoft.com/office/powerpoint/2010/main" val="45113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AB4E-BFD4-E6A7-54AB-CDF38557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Experimentation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4FC33-D20E-D175-E7CD-D6ED02D55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DFS, BFS, and A* tested on all maze types; ACO worked only on small mazes</a:t>
            </a:r>
          </a:p>
          <a:p>
            <a:r>
              <a:rPr lang="en-US"/>
              <a:t>ACO influenced by pheromone strength and several other factors.</a:t>
            </a:r>
          </a:p>
          <a:p>
            <a:r>
              <a:rPr lang="en-US"/>
              <a:t>ACO much slower due to many ants and iterations.</a:t>
            </a:r>
          </a:p>
          <a:p>
            <a:r>
              <a:rPr lang="en-US"/>
              <a:t>Adjusted factors made ACO too deterministic on small mazes </a:t>
            </a:r>
            <a:r>
              <a:rPr lang="en-US" err="1"/>
              <a:t>i.e</a:t>
            </a:r>
            <a:r>
              <a:rPr lang="en-US"/>
              <a:t> showed very fast convergence.</a:t>
            </a:r>
          </a:p>
        </p:txBody>
      </p:sp>
    </p:spTree>
    <p:extLst>
      <p:ext uri="{BB962C8B-B14F-4D97-AF65-F5344CB8AC3E}">
        <p14:creationId xmlns:p14="http://schemas.microsoft.com/office/powerpoint/2010/main" val="3554694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FD36E2-F54E-BDA4-932F-1E92548C1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/>
              <a:t>results</a:t>
            </a:r>
          </a:p>
        </p:txBody>
      </p:sp>
      <p:cxnSp>
        <p:nvCxnSpPr>
          <p:cNvPr id="16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E6F34D-DC7A-2D31-ADAE-282D50B5A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35" y="1848678"/>
            <a:ext cx="5731807" cy="4314375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40DE4BB-1511-F11C-7E24-1276FDE39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r>
              <a:rPr lang="en-US"/>
              <a:t>Ants quickly begin choosing the best path (length 16).</a:t>
            </a:r>
          </a:p>
          <a:p>
            <a:r>
              <a:rPr lang="en-US"/>
              <a:t>Unique paths explored drop to very low numbers</a:t>
            </a:r>
          </a:p>
          <a:p>
            <a:r>
              <a:rPr lang="en-US"/>
              <a:t>Shows strong convergence</a:t>
            </a:r>
          </a:p>
          <a:p>
            <a:r>
              <a:rPr lang="en-US"/>
              <a:t>Stable behavior </a:t>
            </a:r>
          </a:p>
          <a:p>
            <a:r>
              <a:rPr lang="en-US"/>
              <a:t>Best- path usage stays high across iterations</a:t>
            </a:r>
          </a:p>
        </p:txBody>
      </p:sp>
    </p:spTree>
    <p:extLst>
      <p:ext uri="{BB962C8B-B14F-4D97-AF65-F5344CB8AC3E}">
        <p14:creationId xmlns:p14="http://schemas.microsoft.com/office/powerpoint/2010/main" val="1520277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33BE5B4-39DC-969B-B5A7-26DAD0D77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137" y="1105675"/>
            <a:ext cx="5574029" cy="27124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6C5A1B-F34E-845E-D413-2D9FEB521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231" y="3961058"/>
            <a:ext cx="7702408" cy="1990576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B21692-652C-4371-95C5-05248EF34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75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488F-A2A7-B5BA-F359-FD9F79D7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A6E56-2371-3F6E-7E10-B9E9A75E2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results show that no single algorithm works best for every maze size.</a:t>
            </a:r>
          </a:p>
          <a:p>
            <a:r>
              <a:rPr lang="en-US"/>
              <a:t>For instance, in </a:t>
            </a:r>
            <a:r>
              <a:rPr lang="en-US" err="1"/>
              <a:t>imperfect_small</a:t>
            </a:r>
            <a:r>
              <a:rPr lang="en-US"/>
              <a:t> dataset, BFS and DFS are the most practical choices.</a:t>
            </a:r>
          </a:p>
          <a:p>
            <a:r>
              <a:rPr lang="en-US"/>
              <a:t>DFS performed best for runtime efficiency.</a:t>
            </a:r>
          </a:p>
          <a:p>
            <a:r>
              <a:rPr lang="en-US"/>
              <a:t>BFS performed best for guaranteed shortest path finding.</a:t>
            </a:r>
          </a:p>
          <a:p>
            <a:r>
              <a:rPr lang="en-US"/>
              <a:t>A* is useful when a strong heuristic exists.</a:t>
            </a:r>
          </a:p>
          <a:p>
            <a:r>
              <a:rPr lang="en-US"/>
              <a:t>ACO was best for optimization analysis.</a:t>
            </a:r>
          </a:p>
        </p:txBody>
      </p:sp>
    </p:spTree>
    <p:extLst>
      <p:ext uri="{BB962C8B-B14F-4D97-AF65-F5344CB8AC3E}">
        <p14:creationId xmlns:p14="http://schemas.microsoft.com/office/powerpoint/2010/main" val="305069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C069-4131-685E-3C0A-1FFEB7A3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CE040-B097-F000-38D4-B10D3165D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ACO convergence story, only 13 ants used the best path in the first iteration. </a:t>
            </a:r>
          </a:p>
          <a:p>
            <a:r>
              <a:rPr lang="en-US"/>
              <a:t>This shows that colony initially explored multiple possible routes instead of immediately agreeing on one solution.</a:t>
            </a:r>
          </a:p>
          <a:p>
            <a:r>
              <a:rPr lang="en-US"/>
              <a:t>By second iteration, the number quickly increase to 19 ants, showing rapid pheromone reinforcement toward the shortest path.</a:t>
            </a:r>
          </a:p>
          <a:p>
            <a:r>
              <a:rPr lang="en-US"/>
              <a:t>Across most of the 50 iterations, between 18 and 20 ants consistently used best path, indicating strong convergence and stable consensus.</a:t>
            </a:r>
          </a:p>
          <a:p>
            <a:r>
              <a:rPr lang="en-US"/>
              <a:t>Key Takeaway: ACO can reliably converge to the optimal maze solution.</a:t>
            </a:r>
          </a:p>
        </p:txBody>
      </p:sp>
    </p:spTree>
    <p:extLst>
      <p:ext uri="{BB962C8B-B14F-4D97-AF65-F5344CB8AC3E}">
        <p14:creationId xmlns:p14="http://schemas.microsoft.com/office/powerpoint/2010/main" val="1647425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31CA9-5771-4E43-469F-F2C5E1AE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79AFE-B077-C55B-BA1E-606EF7FE2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144" y="1718784"/>
            <a:ext cx="10691265" cy="461691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/>
              <a:t>Make ACO work for other graph sizes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Test more with different iterations and size of ant colonies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Alter pheromone factors</a:t>
            </a:r>
          </a:p>
          <a:p>
            <a:pPr marL="0" indent="0">
              <a:buNone/>
            </a:pPr>
            <a:r>
              <a:rPr lang="en-US"/>
              <a:t> alpha: how strongly ants follow pheromone  ~ 1.0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 beta: controls how strongly ants prefer moves that appear closer to the goal  ~ 2.0</a:t>
            </a:r>
            <a:endParaRPr lang="en-US"/>
          </a:p>
          <a:p>
            <a:pPr marL="0" indent="0">
              <a:buNone/>
            </a:pPr>
            <a:r>
              <a:rPr lang="en-US"/>
              <a:t> evaporation: how strongly pheromone trails stay  ~ 0.4</a:t>
            </a:r>
          </a:p>
          <a:p>
            <a:pPr marL="0" indent="0">
              <a:buNone/>
            </a:pPr>
            <a:r>
              <a:rPr lang="en-US"/>
              <a:t> Q: controls how much pheromone successful ants drop  ~ 50.0</a:t>
            </a:r>
          </a:p>
          <a:p>
            <a:pPr marL="0" indent="0">
              <a:buNone/>
            </a:pPr>
            <a:r>
              <a:rPr lang="en-US"/>
              <a:t> exploreRate: controls how much ants will randomly explore  ~ 0.05</a:t>
            </a:r>
          </a:p>
          <a:p>
            <a:pPr marL="0" indent="0">
              <a:buNone/>
            </a:pPr>
            <a:r>
              <a:rPr lang="en-US"/>
              <a:t> </a:t>
            </a:r>
            <a:r>
              <a:rPr lang="en-US" err="1"/>
              <a:t>maxSteps</a:t>
            </a:r>
            <a:r>
              <a:rPr lang="en-US"/>
              <a:t>: prevents indefinite wandering  ~ 4*(</a:t>
            </a:r>
            <a:r>
              <a:rPr lang="en-US" err="1"/>
              <a:t>width+height</a:t>
            </a:r>
            <a:r>
              <a:rPr lang="en-US"/>
              <a:t>)</a:t>
            </a:r>
          </a:p>
          <a:p>
            <a:pPr marL="0" indent="0">
              <a:buNone/>
            </a:pPr>
            <a:r>
              <a:rPr lang="en-US"/>
              <a:t>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45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0F98-084E-0F20-4B8E-AD018C16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Road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DD534-7655-60FF-5947-D34707DC3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We wanted to use multiple graph sizes to compare the algorithms, but the ACO algorithm uses pheromone factors which influence ant movement affecting output for medium size graphs. </a:t>
            </a:r>
          </a:p>
          <a:p>
            <a:r>
              <a:rPr lang="en-US"/>
              <a:t>If we wanted ACO to work for small graphs, ants were not able to explore a larger size graph efficiently.</a:t>
            </a:r>
          </a:p>
          <a:p>
            <a:r>
              <a:rPr lang="en-US"/>
              <a:t>If we did the opposite, ACO would be too deterministic for small graphs.</a:t>
            </a:r>
          </a:p>
          <a:p>
            <a:r>
              <a:rPr lang="en-US"/>
              <a:t>Ultimately, even if our ACO worked for larger graphs, we would need a significant amount of data to show convergence.</a:t>
            </a:r>
          </a:p>
          <a:p>
            <a:r>
              <a:rPr lang="en-US">
                <a:latin typeface="Calisto MT"/>
                <a:cs typeface="Times New Roman"/>
              </a:rPr>
              <a:t>Since it takes an ant colony several iterations of the algorithm to build a stronger pheromone trail, we have to record several outcomes from each iteration, such as successful ant count, number of unique paths, and number of ants taking each unique path.</a:t>
            </a:r>
            <a:endParaRPr lang="en-US">
              <a:latin typeface="Calisto MT"/>
            </a:endParaRPr>
          </a:p>
        </p:txBody>
      </p:sp>
    </p:spTree>
    <p:extLst>
      <p:ext uri="{BB962C8B-B14F-4D97-AF65-F5344CB8AC3E}">
        <p14:creationId xmlns:p14="http://schemas.microsoft.com/office/powerpoint/2010/main" val="3545774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4FC1-3887-ADB1-E6EA-9AEEA873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D1602-9C0F-AF45-89EF-78769AE25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Introduction to Ant Colony Optimization - </a:t>
            </a:r>
            <a:r>
              <a:rPr lang="en-US" err="1">
                <a:ea typeface="+mn-lt"/>
                <a:cs typeface="+mn-lt"/>
                <a:hlinkClick r:id="rId2"/>
              </a:rPr>
              <a:t>GeeksforGeeks</a:t>
            </a:r>
            <a:endParaRPr lang="en-US">
              <a:ea typeface="+mn-lt"/>
              <a:cs typeface="+mn-lt"/>
              <a:hlinkClick r:id="rId2"/>
            </a:endParaRPr>
          </a:p>
          <a:p>
            <a:r>
              <a:rPr lang="en-US">
                <a:ea typeface="+mn-lt"/>
                <a:cs typeface="+mn-lt"/>
                <a:hlinkClick r:id="rId3"/>
              </a:rPr>
              <a:t>Ant Colony Optimization - Intuition, Code &amp; Visualization | Towards Data Science</a:t>
            </a:r>
            <a:endParaRPr lang="en-US">
              <a:ea typeface="+mn-lt"/>
              <a:cs typeface="+mn-lt"/>
            </a:endParaRPr>
          </a:p>
          <a:p>
            <a:r>
              <a:rPr lang="en-US" b="1" u="sng">
                <a:hlinkClick r:id="rId4"/>
              </a:rPr>
              <a:t>Depth First Search or DFS for a Graph - </a:t>
            </a:r>
            <a:r>
              <a:rPr lang="en-US" b="1" u="sng" err="1">
                <a:hlinkClick r:id="rId4"/>
              </a:rPr>
              <a:t>GeeksforGeeks</a:t>
            </a:r>
            <a:endParaRPr lang="en-US"/>
          </a:p>
          <a:p>
            <a:r>
              <a:rPr lang="en-US" b="1" u="sng">
                <a:hlinkClick r:id="rId5"/>
              </a:rPr>
              <a:t>Breadth First Search or BFS for a Graph - </a:t>
            </a:r>
            <a:r>
              <a:rPr lang="en-US" b="1" u="sng" err="1">
                <a:hlinkClick r:id="rId5"/>
              </a:rPr>
              <a:t>GeeksforGeeks</a:t>
            </a:r>
            <a:endParaRPr lang="en-US"/>
          </a:p>
          <a:p>
            <a:r>
              <a:rPr lang="en-US" b="1" u="sng">
                <a:hlinkClick r:id="rId6"/>
              </a:rPr>
              <a:t>A* Search Algorithm - </a:t>
            </a:r>
            <a:r>
              <a:rPr lang="en-US" b="1" u="sng" err="1">
                <a:hlinkClick r:id="rId6"/>
              </a:rPr>
              <a:t>GeeksforGeeks</a:t>
            </a:r>
            <a:endParaRPr lang="en-US"/>
          </a:p>
          <a:p>
            <a:r>
              <a:rPr lang="en-US" b="1" u="sng">
                <a:hlinkClick r:id="rId7"/>
              </a:rPr>
              <a:t>The A* Algorithm: A Complete Guide | DataCamp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5225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ChronicleVTI</vt:lpstr>
      <vt:lpstr>Maze  Solving Project</vt:lpstr>
      <vt:lpstr>Overview</vt:lpstr>
      <vt:lpstr>Research Hypothesis</vt:lpstr>
      <vt:lpstr> Experimentation</vt:lpstr>
      <vt:lpstr>results</vt:lpstr>
      <vt:lpstr>PowerPoint Presentation</vt:lpstr>
      <vt:lpstr>Analysis</vt:lpstr>
      <vt:lpstr>Analysis</vt:lpstr>
      <vt:lpstr>Future directions</vt:lpstr>
      <vt:lpstr>Road blocks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 Swarupa Botla</dc:creator>
  <cp:revision>16</cp:revision>
  <dcterms:created xsi:type="dcterms:W3CDTF">2026-04-22T04:53:49Z</dcterms:created>
  <dcterms:modified xsi:type="dcterms:W3CDTF">2026-04-26T22:54:40Z</dcterms:modified>
</cp:coreProperties>
</file>